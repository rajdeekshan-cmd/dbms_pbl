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2926080" cy="2926080"/>
          </a:xfrm>
          <a:prstGeom prst="ellipse">
            <a:avLst/>
          </a:prstGeom>
          <a:solidFill>
            <a:srgbClr val="44506B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5" name="Image 0" descr="/home/claude/project19/ppt/icons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785" y="79278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• PROJECT NO. 19 • REVIEW 2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Rental Reservation and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Return Management System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Normalized Database (3NF), DDL with Constraints,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and SQL Queries.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40080" y="5257800"/>
            <a:ext cx="2926080" cy="0"/>
          </a:xfrm>
          <a:prstGeom prst="line">
            <a:avLst/>
          </a:prstGeom>
          <a:noFill/>
          <a:ln w="15875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394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DEEKSHAN RAJ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25WU0102037  ·  Class: AIML RHINOS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 — Week 11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Dictionary — Key Tables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10908792" cy="4663440"/>
        </p:xfrm>
        <a:graphic>
          <a:graphicData uri="http://schemas.openxmlformats.org/drawingml/2006/table">
            <a:tbl>
              <a:tblPr/>
              <a:tblGrid>
                <a:gridCol w="2377440"/>
                <a:gridCol w="4572000"/>
                <a:gridCol w="395935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Columns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 office locations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Hatchback / Sedan / SUV / Luxury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(PK); category_id, branch_id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 fleet vehicles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Renters, incl. licence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(PK); customer/vehicle/branch/rate_plan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 booking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rental_id (PK); reservation_id (FK, UQ)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pickup /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inspection_id (PK); rental_id (FK)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 check at pickup &amp; return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 / Payment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invoice_id / payment_id (PK)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 and settlement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Verifying Third Normal Form (3NF)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7799832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vehicle_id → reg_no, category_id, branch_id, model, year, odometer,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reservation_id → customer_id, vehicle_id, branch_id, rate_plan_id, dates,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rate_plan_id → category_id, plan_name, daily_rate, extra_km_rate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7A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VehicleCategory separated from Vehicle — removes repeated seating/rate data and update anomalies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kept separate from Rental — avoids a repeating group (pickup + return in one row breaks 1NF)</a:t>
            </a:r>
            <a:endParaRPr lang="en-US" sz="1300" dirty="0"/>
          </a:p>
          <a:p>
            <a:pPr marL="228600" indent="-228600">
              <a:lnSpc>
                <a:spcPts val="1800"/>
              </a:lnSpc>
              <a:spcAft>
                <a:spcPts val="1000"/>
              </a:spcAft>
              <a:buSzPct val="100000"/>
              <a:buChar char="▸"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charges split into rental / extra-km / late-fee / damage — each traceable to its source rule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Rules — How They're Enforced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406640" cy="4709160"/>
        </p:xfrm>
        <a:graphic>
          <a:graphicData uri="http://schemas.openxmlformats.org/drawingml/2006/table">
            <a:tbl>
              <a:tblPr/>
              <a:tblGrid>
                <a:gridCol w="4937760"/>
                <a:gridCol w="246888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overlapping rentals for the same vehicle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Customer's driving licence must not be expired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(cross-row check)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date/time must be after pickup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Odometer &amp; fuel readings must be valid (0–100%)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 &amp; payments can never be negative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constraint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status auto-updates on pickup/return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(AFTER UPDATE)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63040"/>
            <a:ext cx="3182112" cy="4709160"/>
          </a:xfrm>
          <a:prstGeom prst="roundRect">
            <a:avLst>
              <a:gd name="adj" fmla="val 2299"/>
            </a:avLst>
          </a:prstGeom>
          <a:solidFill>
            <a:srgbClr val="1E2761"/>
          </a:solidFill>
          <a:ln/>
        </p:spPr>
      </p:sp>
      <p:sp>
        <p:nvSpPr>
          <p:cNvPr id="6" name="Shape 3"/>
          <p:cNvSpPr/>
          <p:nvPr/>
        </p:nvSpPr>
        <p:spPr>
          <a:xfrm>
            <a:off x="9546336" y="1783080"/>
            <a:ext cx="822960" cy="82296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7" name="Image 0" descr="/home/claude/project19/ppt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3321" y="1890065"/>
            <a:ext cx="608990" cy="6089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549640" y="278892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triggers?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622792" y="3246120"/>
            <a:ext cx="26700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constraints validate a single row. Overlap and licence rules need to compare a new booking against every existing row for that vehicle or customer — only a trigger can do that.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823960" y="4937760"/>
            <a:ext cx="2267712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622792" y="5074920"/>
            <a:ext cx="2670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the database level — holds true no matter which application connects.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 Loaded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71216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71216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71216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1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02352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102352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33488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33488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33488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564624" y="155448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64624" y="1664208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564624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246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Customer;  (excerpt)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548640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customer_id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full_name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license_expiry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06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Rohan Mehta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2027-05-10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Ananya Rao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2026-11-20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Karan Verma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2025-01-15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F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92240" y="3611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rental is still overdue in the sample data —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demonstrate the Overdue Rentals report.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92240" y="4434840"/>
            <a:ext cx="5029200" cy="777240"/>
          </a:xfrm>
          <a:prstGeom prst="roundRect">
            <a:avLst>
              <a:gd name="adj" fmla="val 9412"/>
            </a:avLst>
          </a:prstGeom>
          <a:solidFill>
            <a:srgbClr val="FDF0DC"/>
          </a:solidFill>
          <a:ln w="12700">
            <a:solidFill>
              <a:srgbClr val="E8A9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75120" y="4434840"/>
            <a:ext cx="4663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#2 — Ananya Rao — Hyundai Creta — status: OVERDUE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LAYER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Queries &amp; Views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REPORTING VIEWS (JOINS + AGGREGATES)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vw_fleet_availability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5196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vw_overdue_rentals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82880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2880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vw_vehicle_utilization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vw_damage_report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vw_branch_revenue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2560320"/>
            <a:ext cx="3429000" cy="548640"/>
          </a:xfrm>
          <a:prstGeom prst="roundRect">
            <a:avLst>
              <a:gd name="adj" fmla="val 58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560320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vw_customer_history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SUBQUERY EXAMPLE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08792" cy="1417320"/>
          </a:xfrm>
          <a:prstGeom prst="roundRect">
            <a:avLst>
              <a:gd name="adj" fmla="val 3871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319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 c.full_name, inv.total_amount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 c JOIN Reservation r ON r.customer_id = c.customer_id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Rental rt ON rt.reservation_id = r.reservation_id JOIN Invoice inv ON inv.rental_id = rt.rental_id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inv.total_amount &gt; (SELECT AVG(total_amount) FROM Invoice);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customers who paid more than the average invoice total — a correlated aggregate subquery.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Rules Actually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6" name="Image 0" descr="/home/claude/project19/ppt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187589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1 — Overlapping Booking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(customer_id, vehicle_id, branch_id,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rate_plan_id, planned_pickup, planned_return)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(2, 1, 1, 1, '2026-09-02 10:00',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'2026-09-03 10:00');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“Overlapping reservation exists for this vehicle in the selected period.”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trg_no_overlap_reservation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FE4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92240" y="1810512"/>
            <a:ext cx="502920" cy="502920"/>
          </a:xfrm>
          <a:prstGeom prst="ellipse">
            <a:avLst/>
          </a:prstGeom>
          <a:solidFill>
            <a:srgbClr val="B03A2E"/>
          </a:solidFill>
          <a:ln/>
        </p:spPr>
      </p:sp>
      <p:pic>
        <p:nvPicPr>
          <p:cNvPr id="14" name="Image 1" descr="/home/claude/project19/ppt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1875892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2 — Expired Licence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6492240" y="2514600"/>
            <a:ext cx="4800600" cy="1417320"/>
          </a:xfrm>
          <a:prstGeom prst="roundRect">
            <a:avLst>
              <a:gd name="adj" fmla="val 3226"/>
            </a:avLst>
          </a:prstGeom>
          <a:solidFill>
            <a:srgbClr val="141B4D"/>
          </a:solidFill>
          <a:ln/>
        </p:spPr>
      </p:sp>
      <p:sp>
        <p:nvSpPr>
          <p:cNvPr id="17" name="Text 13"/>
          <p:cNvSpPr/>
          <p:nvPr/>
        </p:nvSpPr>
        <p:spPr>
          <a:xfrm>
            <a:off x="6629400" y="260604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Customer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license_expiry='2020-01-01'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customer_id=1;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Reservation (...)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4, 2, 1, '2027-02-01',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E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'2027-02-02');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492240" y="41148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rejected with “Customer driving licence is expired before the pickup date.”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92240" y="4983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Trigger: trg_valid_license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17320"/>
            <a:ext cx="1005840" cy="1005840"/>
          </a:xfrm>
          <a:prstGeom prst="ellipse">
            <a:avLst/>
          </a:prstGeom>
          <a:solidFill>
            <a:srgbClr val="E8A93C"/>
          </a:solidFill>
          <a:ln/>
        </p:spPr>
      </p:sp>
      <p:pic>
        <p:nvPicPr>
          <p:cNvPr id="4" name="Image 0" descr="/home/claude/project19/ppt/icons/clipboar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2315" y="1548079"/>
            <a:ext cx="744322" cy="7443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8892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A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Viva-Voce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19 · Review 2 — Normalization, Constraints, Sample Data &amp; SQL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2026-10-05T09:39:15Z</dcterms:created>
  <dcterms:modified xsi:type="dcterms:W3CDTF">2026-10-05T09:39:15Z</dcterms:modified>
</cp:coreProperties>
</file>