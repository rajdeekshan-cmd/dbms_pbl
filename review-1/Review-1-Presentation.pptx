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828800"/>
            <a:ext cx="5943600" cy="5943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822960"/>
            <a:ext cx="2926080" cy="2926080"/>
          </a:xfrm>
          <a:prstGeom prst="ellipse">
            <a:avLst/>
          </a:prstGeom>
          <a:solidFill>
            <a:srgbClr val="44506B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685800"/>
            <a:ext cx="822960" cy="822960"/>
          </a:xfrm>
          <a:prstGeom prst="ellipse">
            <a:avLst/>
          </a:prstGeom>
          <a:solidFill>
            <a:srgbClr val="E8A93C"/>
          </a:solidFill>
          <a:ln/>
        </p:spPr>
      </p:sp>
      <p:pic>
        <p:nvPicPr>
          <p:cNvPr id="5" name="Image 0" descr="/home/claude/project19/ppt/icons/c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785" y="792785"/>
            <a:ext cx="608990" cy="6089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3317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 • PROJECT NO. 19 • REVIEW 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21792" y="269748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 Rental Reservation and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 Return Management System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40080" y="434340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— Problem Statement, Conceptual Design (ER Diagram)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Relational Schema.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5257800"/>
            <a:ext cx="2926080" cy="0"/>
          </a:xfrm>
          <a:prstGeom prst="line">
            <a:avLst/>
          </a:prstGeom>
          <a:noFill/>
          <a:ln w="15875">
            <a:solidFill>
              <a:srgbClr val="4450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5394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 DEEKSHAN RAJ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25WU0102037  ·  Class: AIML RHINOS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WOXSEN UNIVERSITY — Week 7 Review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rental tracking breaks down fast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and mid-size car-rental agencies still rely on registers, spreadsheets, and phone confirmations to manage vehicles, bookings, and billing across branches.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542032" cy="324612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F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18488" y="2624328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project19/ppt/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4566" y="2700406"/>
            <a:ext cx="433060" cy="4330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38328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Double-booking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41248" y="3867912"/>
            <a:ext cx="213969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vehicle gets promised to two customers with no real-time check.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38144" y="2331720"/>
            <a:ext cx="2542032" cy="324612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F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16552" y="2624328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project19/ppt/icons/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2630" y="2700406"/>
            <a:ext cx="433060" cy="4330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75304" y="338328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Damage disputes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39312" y="3867912"/>
            <a:ext cx="213969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consistent record of vehicle condition at pickup vs. return.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36208" y="2331720"/>
            <a:ext cx="2542032" cy="324612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F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214616" y="2624328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/home/claude/project19/ppt/icons/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0694" y="2700406"/>
            <a:ext cx="433060" cy="4330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73368" y="338328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Billing errors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37376" y="3867912"/>
            <a:ext cx="213969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days, extra km, and late fees calculated manually, inconsistently.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034272" y="2331720"/>
            <a:ext cx="2542032" cy="324612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F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0012680" y="2624328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/home/claude/project19/ppt/icons/warn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8758" y="2700406"/>
            <a:ext cx="433060" cy="4330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71432" y="338328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visibility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235440" y="3867912"/>
            <a:ext cx="213969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Branch-wise revenue and fleet utilization take days to compile.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12080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>
            <a:solidFill>
              <a:srgbClr val="DFE4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911096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1109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73736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entities, attributes and relationships through requirement analysis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600200"/>
            <a:ext cx="5212080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>
            <a:solidFill>
              <a:srgbClr val="DFE4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10528" y="1911096"/>
            <a:ext cx="640080" cy="640080"/>
          </a:xfrm>
          <a:prstGeom prst="ellipse">
            <a:avLst/>
          </a:prstGeom>
          <a:solidFill>
            <a:srgbClr val="44506B"/>
          </a:solidFill>
          <a:ln/>
        </p:spPr>
      </p:sp>
      <p:sp>
        <p:nvSpPr>
          <p:cNvPr id="10" name="Text 8"/>
          <p:cNvSpPr/>
          <p:nvPr/>
        </p:nvSpPr>
        <p:spPr>
          <a:xfrm>
            <a:off x="6510528" y="191109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0" y="173736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conceptual ER diagram covering all principal entities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081528"/>
            <a:ext cx="5212080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>
            <a:solidFill>
              <a:srgbClr val="DFE4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3392424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339242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45920" y="3218688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the relational schema up to Third Normal Form (3NF)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3081528"/>
            <a:ext cx="5212080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>
            <a:solidFill>
              <a:srgbClr val="DFE4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10528" y="3392424"/>
            <a:ext cx="640080" cy="640080"/>
          </a:xfrm>
          <a:prstGeom prst="ellipse">
            <a:avLst/>
          </a:prstGeom>
          <a:solidFill>
            <a:srgbClr val="44506B"/>
          </a:solidFill>
          <a:ln/>
        </p:spPr>
      </p:sp>
      <p:sp>
        <p:nvSpPr>
          <p:cNvPr id="18" name="Text 16"/>
          <p:cNvSpPr/>
          <p:nvPr/>
        </p:nvSpPr>
        <p:spPr>
          <a:xfrm>
            <a:off x="6510528" y="339242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0" y="3218688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keys, CHECK constraints and triggers for business rules in MySQL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562856"/>
            <a:ext cx="5212080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>
            <a:solidFill>
              <a:srgbClr val="DFE4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" y="487375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48737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645920" y="4700016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 the database with realistic, testable sample data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9360" y="4562856"/>
            <a:ext cx="5212080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>
            <a:solidFill>
              <a:srgbClr val="DFE4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10528" y="4873752"/>
            <a:ext cx="640080" cy="640080"/>
          </a:xfrm>
          <a:prstGeom prst="ellipse">
            <a:avLst/>
          </a:prstGeom>
          <a:solidFill>
            <a:srgbClr val="44506B"/>
          </a:solidFill>
          <a:ln/>
        </p:spPr>
      </p:sp>
      <p:sp>
        <p:nvSpPr>
          <p:cNvPr id="26" name="Text 24"/>
          <p:cNvSpPr/>
          <p:nvPr/>
        </p:nvSpPr>
        <p:spPr>
          <a:xfrm>
            <a:off x="6510528" y="48737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315200" y="4700016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joins, aggregates, nested subqueries and views for management reports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 vs. Proposed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5780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5240">
            <a:solidFill>
              <a:srgbClr val="E3B7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8308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A8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31720"/>
            <a:ext cx="461772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ts val="1800"/>
              </a:lnSpc>
              <a:spcAft>
                <a:spcPts val="1200"/>
              </a:spcAft>
              <a:buSzPct val="100000"/>
              <a:buChar char="✗"/>
            </a:pPr>
            <a:r>
              <a:rPr lang="en-US" sz="13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registers / spreadsheets per branch</a:t>
            </a:r>
            <a:endParaRPr lang="en-US" sz="1350" dirty="0"/>
          </a:p>
          <a:p>
            <a:pPr marL="254000" indent="-254000">
              <a:lnSpc>
                <a:spcPts val="1800"/>
              </a:lnSpc>
              <a:spcAft>
                <a:spcPts val="1200"/>
              </a:spcAft>
              <a:buSzPct val="100000"/>
              <a:buChar char="✗"/>
            </a:pPr>
            <a:r>
              <a:rPr lang="en-US" sz="13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vehicle availability check</a:t>
            </a:r>
            <a:endParaRPr lang="en-US" sz="1350" dirty="0"/>
          </a:p>
          <a:p>
            <a:pPr marL="254000" indent="-254000">
              <a:lnSpc>
                <a:spcPts val="1800"/>
              </a:lnSpc>
              <a:spcAft>
                <a:spcPts val="1200"/>
              </a:spcAft>
              <a:buSzPct val="100000"/>
              <a:buChar char="✗"/>
            </a:pPr>
            <a:r>
              <a:rPr lang="en-US" sz="13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systematic pickup/return condition record</a:t>
            </a:r>
            <a:endParaRPr lang="en-US" sz="1350" dirty="0"/>
          </a:p>
          <a:p>
            <a:pPr marL="254000" indent="-254000">
              <a:lnSpc>
                <a:spcPts val="1800"/>
              </a:lnSpc>
              <a:spcAft>
                <a:spcPts val="1200"/>
              </a:spcAft>
              <a:buSzPct val="100000"/>
              <a:buChar char="✗"/>
            </a:pPr>
            <a:r>
              <a:rPr lang="en-US" sz="13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error-prone charge calculation</a:t>
            </a:r>
            <a:endParaRPr lang="en-US" sz="1350" dirty="0"/>
          </a:p>
          <a:p>
            <a:pPr marL="254000" indent="-254000">
              <a:lnSpc>
                <a:spcPts val="1800"/>
              </a:lnSpc>
              <a:spcAft>
                <a:spcPts val="1200"/>
              </a:spcAft>
              <a:buSzPct val="100000"/>
              <a:buChar char="✗"/>
            </a:pPr>
            <a:r>
              <a:rPr lang="en-US" sz="13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enforcement of licence validity rules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554480"/>
            <a:ext cx="5257800" cy="4617720"/>
          </a:xfrm>
          <a:prstGeom prst="roundRect">
            <a:avLst>
              <a:gd name="adj" fmla="val 158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9AA5C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09360" y="178308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E8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29400" y="2331720"/>
            <a:ext cx="461772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ts val="1800"/>
              </a:lnSpc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Centralized, normalized MySQL database</a:t>
            </a:r>
            <a:endParaRPr lang="en-US" sz="1350" dirty="0"/>
          </a:p>
          <a:p>
            <a:pPr marL="254000" indent="-254000">
              <a:lnSpc>
                <a:spcPts val="1800"/>
              </a:lnSpc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Trigger-based real-time overlap prevention</a:t>
            </a:r>
            <a:endParaRPr lang="en-US" sz="1350" dirty="0"/>
          </a:p>
          <a:p>
            <a:pPr marL="254000" indent="-254000">
              <a:lnSpc>
                <a:spcPts val="1800"/>
              </a:lnSpc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pickup/return inspection records</a:t>
            </a:r>
            <a:endParaRPr lang="en-US" sz="1350" dirty="0"/>
          </a:p>
          <a:p>
            <a:pPr marL="254000" indent="-254000">
              <a:lnSpc>
                <a:spcPts val="1800"/>
              </a:lnSpc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invoice calculation with tax &amp; fees</a:t>
            </a:r>
            <a:endParaRPr lang="en-US" sz="1350" dirty="0"/>
          </a:p>
          <a:p>
            <a:pPr marL="254000" indent="-254000">
              <a:lnSpc>
                <a:spcPts val="1800"/>
              </a:lnSpc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validity enforced at booking time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DESIGN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Entity-Relationship Diagram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entities · crow's-foot notation for one-to-many relationships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11183112" cy="47091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12700">
            <a:solidFill>
              <a:srgbClr val="DFE4F0"/>
            </a:solidFill>
            <a:prstDash val="solid"/>
          </a:ln>
        </p:spPr>
      </p:sp>
      <p:pic>
        <p:nvPicPr>
          <p:cNvPr id="6" name="Image 0" descr="/home/claude/project19/diagrams/e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828800"/>
            <a:ext cx="10725912" cy="4297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PROCESS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Reservation-to-Payment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data model tracks a rental from booking to bill, with rules enforced at each step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11183112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FE4F0"/>
            </a:solidFill>
            <a:prstDash val="solid"/>
          </a:ln>
        </p:spPr>
      </p:sp>
      <p:pic>
        <p:nvPicPr>
          <p:cNvPr id="6" name="Image 0" descr="/home/claude/project19/diagrams/fl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2331720"/>
            <a:ext cx="10634472" cy="3337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DESIGN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Relational Schema — Key Tables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908792" cy="4663440"/>
        </p:xfrm>
        <a:graphic>
          <a:graphicData uri="http://schemas.openxmlformats.org/drawingml/2006/table">
            <a:tbl>
              <a:tblPr/>
              <a:tblGrid>
                <a:gridCol w="2377440"/>
                <a:gridCol w="4572000"/>
                <a:gridCol w="395935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Columns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branch_id (PK)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Rental office locations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VehicleCategory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category_id (PK)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Hatchback / Sedan / SUV / Luxury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vehicle_id (PK); category_id, branch_id (FK)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 fleet vehicles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customer_id (PK)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Renters, incl. licence details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reservation_id (PK); customer/vehicle/branch/rate_plan (FK)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 booking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rental_id (PK); reservation_id (FK, UQ)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pickup / return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inspection_id (PK); rental_id (FK)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 check at pickup &amp; return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 / Payment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invoice_id / payment_id (PK)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 and settlement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657600"/>
            <a:ext cx="5943600" cy="5943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5591556" y="1417320"/>
            <a:ext cx="1005840" cy="1005840"/>
          </a:xfrm>
          <a:prstGeom prst="ellipse">
            <a:avLst/>
          </a:prstGeom>
          <a:solidFill>
            <a:srgbClr val="E8A93C"/>
          </a:solidFill>
          <a:ln/>
        </p:spPr>
      </p:sp>
      <p:pic>
        <p:nvPicPr>
          <p:cNvPr id="4" name="Image 0" descr="/home/claude/project19/ppt/icons/clipboard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2315" y="1548079"/>
            <a:ext cx="744322" cy="74432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78892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0" y="35204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8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Viva-Voce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19 · Review 1 — Problem Statement, ER Diagram &amp; Relational Schema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2026-10-05T09:38:27Z</dcterms:created>
  <dcterms:modified xsi:type="dcterms:W3CDTF">2026-10-05T09:38:27Z</dcterms:modified>
</cp:coreProperties>
</file>