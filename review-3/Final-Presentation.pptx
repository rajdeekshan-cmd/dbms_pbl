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  <p:sldId id="265" r:id="rId16"/>
    <p:sldId id="266" r:id="rId17"/>
    <p:sldId id="267" r:id="rId18"/>
    <p:sldId id="268" r:id="rId1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-822960"/>
            <a:ext cx="2926080" cy="2926080"/>
          </a:xfrm>
          <a:prstGeom prst="ellipse">
            <a:avLst/>
          </a:prstGeom>
          <a:solidFill>
            <a:srgbClr val="44506B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" y="685800"/>
            <a:ext cx="822960" cy="822960"/>
          </a:xfrm>
          <a:prstGeom prst="ellipse">
            <a:avLst/>
          </a:prstGeom>
          <a:solidFill>
            <a:srgbClr val="E8A93C"/>
          </a:solidFill>
          <a:ln/>
        </p:spPr>
        <p:txBody>
          <a:bodyPr/>
          <a:p/>
        </p:txBody>
      </p:sp>
      <p:pic>
        <p:nvPicPr>
          <p:cNvPr id="5" name="Image 0" descr="/home/claude/project19/ppt/icons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785" y="79278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• PROJECT NO. 19 • FINAL PRESENTATION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792" y="269748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Rental Reservation and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Return Management System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Database (3NF), Constraints, SQL Views,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Application, Live Demonstration and Viva-Voce.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257800"/>
            <a:ext cx="2926080" cy="0"/>
          </a:xfrm>
          <a:prstGeom prst="line">
            <a:avLst/>
          </a:prstGeom>
          <a:noFill/>
          <a:ln w="15875">
            <a:solidFill>
              <a:srgbClr val="44506B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40080" y="5394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DEEKSHAN RAJ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25WU0102037  ·  Class: AIML RHINOS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 — Reviews 2 &amp; 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 — Key Tables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08792" cy="466344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395935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 office locations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Hatchback / Sedan / SUV / Luxury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vehicle_id (PK); category_id, branch_id (FK)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fleet vehicles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Renters, incl. licence details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reservation_id (PK); customer/vehicle/branch/rate_plan (FK)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 booking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rental_id (PK); reservation_id (FK, UQ)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pickup / return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inspection_id (PK); rental_id (FK)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check at pickup &amp; return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/ Payment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invoice_id / payment_id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and settlement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Verifying Third Normal Form (3NF)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08792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7799832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Dependency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vehicle_id → reg_no, category_id, branch_id, model, year, odometer,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reservation_id → customer_id, vehicle_id, branch_id, rate_plan_id, dates,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rate_plan_id → category_id, plan_name, daily_rate, extra_km_rate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388620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VehicleCategory separated from Vehicle — removes repeated seating/rate data and update anomalies</a:t>
            </a:r>
            <a:endParaRPr lang="en-US" sz="1300" dirty="0"/>
          </a:p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kept separate from Rental — avoids a repeating group (pickup + return in one row breaks 1NF)</a:t>
            </a:r>
            <a:endParaRPr lang="en-US" sz="1300" dirty="0"/>
          </a:p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charges split into rental / extra-km / late-fee / damage — each traceable to its source rule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— How They're Enforced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406640" cy="4709160"/>
        </p:xfrm>
        <a:graphic>
          <a:graphicData uri="http://schemas.openxmlformats.org/drawingml/2006/table">
            <a:tbl>
              <a:tblPr/>
              <a:tblGrid>
                <a:gridCol w="4937760"/>
                <a:gridCol w="246888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overlapping rentals for the same vehicle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(cross-row check)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Customer's driving licence must not be expired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(cross-row check)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date/time must be after pickup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constraint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Odometer &amp; fuel readings must be valid (0–100%)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constraint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 &amp; payments can never be negative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constraint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status auto-updates on pickup/return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(AFTER UPDATE)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463040"/>
            <a:ext cx="3182112" cy="4709160"/>
          </a:xfrm>
          <a:prstGeom prst="roundRect">
            <a:avLst>
              <a:gd name="adj" fmla="val 229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9546336" y="1783080"/>
            <a:ext cx="822960" cy="822960"/>
          </a:xfrm>
          <a:prstGeom prst="ellipse">
            <a:avLst/>
          </a:prstGeom>
          <a:solidFill>
            <a:srgbClr val="E8A93C"/>
          </a:solidFill>
          <a:ln/>
        </p:spPr>
        <p:txBody>
          <a:bodyPr/>
          <a:p/>
        </p:txBody>
      </p:sp>
      <p:pic>
        <p:nvPicPr>
          <p:cNvPr id="7" name="Image 0" descr="/home/claude/project19/ppt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3321" y="1890065"/>
            <a:ext cx="608990" cy="6089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49640" y="278892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triggers?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622792" y="3246120"/>
            <a:ext cx="26700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constraints validate a single row. Overlap and licence rules need to compare a new booking against every existing row for that vehicle or customer — only a trigger can do that.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823960" y="4937760"/>
            <a:ext cx="2267712" cy="0"/>
          </a:xfrm>
          <a:prstGeom prst="line">
            <a:avLst/>
          </a:prstGeom>
          <a:noFill/>
          <a:ln w="12700">
            <a:solidFill>
              <a:srgbClr val="44506B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8622792" y="5074920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at the database level — holds true no matter which application connects.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 Loaded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6642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71216" y="155448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871216" y="16642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871216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02352" y="155448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102352" y="16642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102352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33488" y="155448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33488" y="16642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333488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564624" y="155448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564624" y="16642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564624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Customer;  (excerpt)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11880"/>
          <a:ext cx="5486400" cy="155448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full_name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license_expiry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0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Rohan Mehta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2027-05-10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Ananya Rao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2026-11-20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Karan Verma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2025-01-15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6492240" y="36118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rental is still overdue in the sample data —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demonstrate the Overdue Rentals report.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92240" y="443484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DF0DC"/>
          </a:solidFill>
          <a:ln w="12700">
            <a:solidFill>
              <a:srgbClr val="E8A93C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675120" y="44348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#2 — Ananya Rao — Hyundai Creta — status: OVERDUE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LAYER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 &amp; Views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REPORTING VIEWS (JOINS + AGGREGATES)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29000" cy="548640"/>
          </a:xfrm>
          <a:prstGeom prst="roundRect">
            <a:avLst>
              <a:gd name="adj" fmla="val 5833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828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vw_fleet_availability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828800"/>
            <a:ext cx="3429000" cy="548640"/>
          </a:xfrm>
          <a:prstGeom prst="roundRect">
            <a:avLst>
              <a:gd name="adj" fmla="val 5833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251960" y="1828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vw_overdue_rentals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1828800"/>
            <a:ext cx="3429000" cy="548640"/>
          </a:xfrm>
          <a:prstGeom prst="roundRect">
            <a:avLst>
              <a:gd name="adj" fmla="val 5833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863840" y="1828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vw_vehicle_utilization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3429000" cy="548640"/>
          </a:xfrm>
          <a:prstGeom prst="roundRect">
            <a:avLst>
              <a:gd name="adj" fmla="val 5833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5603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vw_damage_report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2560320"/>
            <a:ext cx="3429000" cy="548640"/>
          </a:xfrm>
          <a:prstGeom prst="roundRect">
            <a:avLst>
              <a:gd name="adj" fmla="val 5833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251960" y="25603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vw_branch_revenue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63840" y="2560320"/>
            <a:ext cx="3429000" cy="548640"/>
          </a:xfrm>
          <a:prstGeom prst="roundRect">
            <a:avLst>
              <a:gd name="adj" fmla="val 5833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863840" y="25603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vw_customer_history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SUBQUERY EXAMPLE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10908792" cy="1417320"/>
          </a:xfrm>
          <a:prstGeom prst="roundRect">
            <a:avLst>
              <a:gd name="adj" fmla="val 3871"/>
            </a:avLst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3931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c.full_name, inv.total_amount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 c JOIN Reservation r ON r.customer_id = c.customer_id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Rental rt ON rt.reservation_id = r.reservation_id JOIN Invoice inv ON inv.rental_id = rt.rental_id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inv.total_amount &gt; (SELECT AVG(total_amount) FROM Invoice);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customers who paid more than the average invoice total — a correlated aggregate subquery.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the Rules Actually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810512"/>
            <a:ext cx="502920" cy="502920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p/>
        </p:txBody>
      </p:sp>
      <p:pic>
        <p:nvPicPr>
          <p:cNvPr id="6" name="Image 0" descr="/home/claude/project19/ppt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1875892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470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1 — Overlapping Booking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2514600"/>
            <a:ext cx="4800600" cy="1417320"/>
          </a:xfrm>
          <a:prstGeom prst="roundRect">
            <a:avLst>
              <a:gd name="adj" fmla="val 3226"/>
            </a:avLst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005840" y="260604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Reservation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(customer_id, vehicle_id, branch_id,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rate_plan_id, planned_pickup, planned_return)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(2, 1, 1, 1, '2026-09-02 10:00',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'2026-09-03 10:00');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rejected with “Overlapping reservation exists for this vehicle in the selected period.”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4983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Trigger: trg_no_overlap_reservation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155448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492240" y="1810512"/>
            <a:ext cx="502920" cy="502920"/>
          </a:xfrm>
          <a:prstGeom prst="ellipse">
            <a:avLst/>
          </a:prstGeom>
          <a:solidFill>
            <a:srgbClr val="B03A2E"/>
          </a:solidFill>
          <a:ln/>
        </p:spPr>
        <p:txBody>
          <a:bodyPr/>
          <a:p/>
        </p:txBody>
      </p:sp>
      <p:pic>
        <p:nvPicPr>
          <p:cNvPr id="14" name="Image 1" descr="/home/claude/project19/ppt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620" y="1875892"/>
            <a:ext cx="372161" cy="3721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0" y="18470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2 — Expired Licence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92240" y="2514600"/>
            <a:ext cx="4800600" cy="1417320"/>
          </a:xfrm>
          <a:prstGeom prst="roundRect">
            <a:avLst>
              <a:gd name="adj" fmla="val 3226"/>
            </a:avLst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629400" y="260604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Customer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license_expiry='2020-01-01'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customer_id=1;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Reservation (...)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(1, 4, 2, 1, '2027-02-01',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'2027-02-02');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492240" y="41148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rejected with “Customer driving licence is expired before the pickup date.”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92240" y="4983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Trigger: trg_valid_license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home/claude/project19/diagrams/architectu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77440" y="1645920"/>
            <a:ext cx="7406640" cy="4526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46888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3977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Tkinter · MySQL Connector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51960" y="914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6" name="Image 0" descr="/home/claude/project19/ppt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340" y="97978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83480" y="89611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— full CRUD on the fleet master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25196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9" name="Image 1" descr="/home/claude/project19/ppt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340" y="1985620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83480" y="190195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— full CRUD with licence validation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4251960" y="2926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2" name="Image 2" descr="/home/claude/project19/ppt/icons/diagra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340" y="2991460"/>
            <a:ext cx="372161" cy="37216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83480" y="290779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— availability search &amp; booking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425196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5" name="Image 3" descr="/home/claude/project19/ppt/icons/rou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340" y="3997300"/>
            <a:ext cx="372161" cy="37216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83480" y="391363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&amp; Return — inspection and auto-billing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4251960" y="4937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pic>
        <p:nvPicPr>
          <p:cNvPr id="18" name="Image 4" descr="/home/claude/project19/ppt/icons/tab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7340" y="5003140"/>
            <a:ext cx="372161" cy="37216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983480" y="4919472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— all 6 views in one dashboard tab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→ Return → Invoice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database access goes through one helper module that always uses parameterised queries.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4480560"/>
          </a:xfrm>
          <a:prstGeom prst="roundRect">
            <a:avLst>
              <a:gd name="adj" fmla="val 1429"/>
            </a:avLst>
          </a:prstGeom>
          <a:solidFill>
            <a:srgbClr val="141B4D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00200" y="19659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Rental row for the reservation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697480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6517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pickup odometer/time → trigger sets Vehicle.status = RENTED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383280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00200" y="33375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PICKUP Inspection + FuelReading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069080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40233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return: UPDATE return odometer/time → trigger sets Vehicle.status = AVAILABLE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754880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47091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RETURN Inspection + optional Damage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5440680"/>
            <a:ext cx="457200" cy="457200"/>
          </a:xfrm>
          <a:prstGeom prst="ellipse">
            <a:avLst/>
          </a:prstGeom>
          <a:solidFill>
            <a:srgbClr val="E8A93C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1440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53949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 days × rate + extra-km + late fee + damage + 18% tax → insert Invoice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Woxsen Car Rentals: Live Web Version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Picture 6" descr="01_landing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627632"/>
            <a:ext cx="5257800" cy="3282696"/>
          </a:xfrm>
          <a:prstGeom prst="rect">
            <a:avLst/>
          </a:prstGeom>
        </p:spPr>
      </p:pic>
      <p:pic>
        <p:nvPicPr>
          <p:cNvPr id="8" name="Picture 7" descr="21_invoice_break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27632"/>
            <a:ext cx="5257800" cy="32826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52" y="498348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273B"/>
                </a:solidFill>
                <a:latin typeface="Calibri"/>
              </a:rPr>
              <a:t>Landing page and fleet availability, filtered by 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4983480"/>
            <a:ext cx="5257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273B"/>
                </a:solidFill>
                <a:latin typeface="Calibri"/>
              </a:rPr>
              <a:t>Return and billing: invoice built line by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547725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273B"/>
                </a:solidFill>
                <a:latin typeface="Calibri"/>
              </a:rPr>
              <a:t>Flask REST API on the same MySQL database. All 3 triggers fire; each action is one transaction. Payments and cancellations added. Runs in any browser with no install.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Project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240">
            <a:solidFill>
              <a:srgbClr val="A9D8B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82880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617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MySQL schema (12 tables) with constraints and 3 triggers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loaded and verified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reporting views and subqueries tested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desktop application (5 modules)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application: Flask API + React site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cancellation and full billing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✓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online and final report submitted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5240">
            <a:solidFill>
              <a:srgbClr val="E8C98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309360" y="182880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46177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○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online database and server for the web version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○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roles for the admin desk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○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vehicle photos in the fleet</a:t>
            </a:r>
            <a:endParaRPr lang="en-US" sz="1300" dirty="0"/>
          </a:p>
          <a:p>
            <a:pPr marL="254000" indent="-254000">
              <a:lnSpc>
                <a:spcPts val="1700"/>
              </a:lnSpc>
              <a:spcAft>
                <a:spcPts val="1100"/>
              </a:spcAft>
              <a:buSzPct val="100000"/>
              <a:buChar char="○"/>
            </a:pP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Stress-testing concurrent bookings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2286000" y="36576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591556" y="1417320"/>
            <a:ext cx="1005840" cy="1005840"/>
          </a:xfrm>
          <a:prstGeom prst="ellipse">
            <a:avLst/>
          </a:prstGeom>
          <a:solidFill>
            <a:srgbClr val="E8A93C"/>
          </a:solidFill>
          <a:ln/>
        </p:spPr>
        <p:txBody>
          <a:bodyPr/>
          <a:p/>
        </p:txBody>
      </p:sp>
      <p:pic>
        <p:nvPicPr>
          <p:cNvPr id="4" name="Image 0" descr="/home/claude/project19/ppt/icons/clipboard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315" y="1548079"/>
            <a:ext cx="744322" cy="744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Viva-Voce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19 · Final Presentation — Reviews 2 &amp; 3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2026-10-05T09:39:15Z</dcterms:created>
  <dcterms:modified xsi:type="dcterms:W3CDTF">2026-10-05T09:39:15Z</dcterms:modified>
</cp:coreProperties>
</file>